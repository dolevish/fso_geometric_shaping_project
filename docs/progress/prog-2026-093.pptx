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90" y="12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98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xtracted/slide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82880"/>
            <a:ext cx="640080" cy="594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Ben-Gurion University of the Negev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Engineering Sciences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Electrical and Computer Engineering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2743200" y="1828800"/>
            <a:ext cx="3657600" cy="0"/>
          </a:xfrm>
          <a:prstGeom prst="line">
            <a:avLst/>
          </a:prstGeom>
          <a:noFill/>
          <a:ln w="25400">
            <a:solidFill>
              <a:schemeClr val="accent1">
                <a:lumMod val="50000"/>
              </a:scheme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19659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Fourth-Year Engineering Project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Presentation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u="sng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Shaping in the FSO Turbulent Channel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Number: P-2026-093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37947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Dolev Ishay (211721451), Adi Shlomo (211619226)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Derevyanko Stanislav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15.03.2026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Free-Space Optical (FSO) communication enables high data rates over atmospheric links, but suffers from turbulence-induced scintillation and AWGN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weak turbulence (log-normal fading), standard uniform-PAM constellations are suboptimal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spacing wastes achievable capacity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Shaping (GS) optimizes constellation point locations to maximize the Average Mutual Information (AMI)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via Simulated Annealing (SA)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metaheuristic that escapes local optima in the non-convex AMI landscape</a:t>
            </a:r>
            <a:endParaRPr lang="en-US" sz="1300" dirty="0"/>
          </a:p>
        </p:txBody>
      </p:sp>
      <p:sp>
        <p:nvSpPr>
          <p:cNvPr id="43" name="Shape 0"/>
          <p:cNvSpPr/>
          <p:nvPr/>
        </p:nvSpPr>
        <p:spPr>
          <a:xfrm>
            <a:off x="365760" y="3086100"/>
            <a:ext cx="1600200" cy="685800"/>
          </a:xfrm>
          <a:prstGeom prst="rect">
            <a:avLst/>
          </a:prstGeom>
          <a:solidFill>
            <a:srgbClr val="546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1"/>
          <p:cNvSpPr/>
          <p:nvPr/>
        </p:nvSpPr>
        <p:spPr>
          <a:xfrm>
            <a:off x="365760" y="30861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PAM-M</a:t>
            </a:r>
            <a:endParaRPr lang="en-US" sz="1200" dirty="0"/>
          </a:p>
        </p:txBody>
      </p:sp>
      <p:sp>
        <p:nvSpPr>
          <p:cNvPr id="45" name="Text 2"/>
          <p:cNvSpPr/>
          <p:nvPr/>
        </p:nvSpPr>
        <p:spPr>
          <a:xfrm>
            <a:off x="1965960" y="30861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46" name="Shape 3"/>
          <p:cNvSpPr/>
          <p:nvPr/>
        </p:nvSpPr>
        <p:spPr>
          <a:xfrm>
            <a:off x="2468880" y="3086100"/>
            <a:ext cx="1600200" cy="685800"/>
          </a:xfrm>
          <a:prstGeom prst="rect">
            <a:avLst/>
          </a:prstGeom>
          <a:solidFill>
            <a:srgbClr val="2D6DA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"/>
          <p:cNvSpPr/>
          <p:nvPr/>
        </p:nvSpPr>
        <p:spPr>
          <a:xfrm>
            <a:off x="2468880" y="30861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48" name="Shape 5"/>
          <p:cNvSpPr/>
          <p:nvPr/>
        </p:nvSpPr>
        <p:spPr>
          <a:xfrm>
            <a:off x="2468880" y="3909060"/>
            <a:ext cx="1600200" cy="502920"/>
          </a:xfrm>
          <a:prstGeom prst="rect">
            <a:avLst/>
          </a:prstGeom>
          <a:solidFill>
            <a:srgbClr val="F4F6F9"/>
          </a:solidFill>
          <a:ln w="19050">
            <a:solidFill>
              <a:srgbClr val="2D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6"/>
          <p:cNvSpPr/>
          <p:nvPr/>
        </p:nvSpPr>
        <p:spPr>
          <a:xfrm>
            <a:off x="2468880" y="390906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AMI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(Gauss–Hermite)</a:t>
            </a:r>
            <a:endParaRPr lang="en-US" sz="900" dirty="0"/>
          </a:p>
        </p:txBody>
      </p:sp>
      <p:sp>
        <p:nvSpPr>
          <p:cNvPr id="50" name="Shape 7"/>
          <p:cNvSpPr/>
          <p:nvPr/>
        </p:nvSpPr>
        <p:spPr>
          <a:xfrm>
            <a:off x="3268980" y="3771900"/>
            <a:ext cx="0" cy="137160"/>
          </a:xfrm>
          <a:prstGeom prst="line">
            <a:avLst/>
          </a:prstGeom>
          <a:noFill/>
          <a:ln w="19050">
            <a:solidFill>
              <a:srgbClr val="2D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8"/>
          <p:cNvSpPr/>
          <p:nvPr/>
        </p:nvSpPr>
        <p:spPr>
          <a:xfrm>
            <a:off x="2388108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800" dirty="0"/>
          </a:p>
        </p:txBody>
      </p:sp>
      <p:sp>
        <p:nvSpPr>
          <p:cNvPr id="52" name="Text 9"/>
          <p:cNvSpPr/>
          <p:nvPr/>
        </p:nvSpPr>
        <p:spPr>
          <a:xfrm>
            <a:off x="4069080" y="30861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3" name="Shape 10"/>
          <p:cNvSpPr/>
          <p:nvPr/>
        </p:nvSpPr>
        <p:spPr>
          <a:xfrm>
            <a:off x="4572000" y="3086100"/>
            <a:ext cx="1600200" cy="685800"/>
          </a:xfrm>
          <a:prstGeom prst="rect">
            <a:avLst/>
          </a:prstGeom>
          <a:solidFill>
            <a:srgbClr val="D488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11"/>
          <p:cNvSpPr/>
          <p:nvPr/>
        </p:nvSpPr>
        <p:spPr>
          <a:xfrm>
            <a:off x="4572000" y="308610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Constellation</a:t>
            </a:r>
            <a:endParaRPr lang="en-US" sz="1100" dirty="0"/>
          </a:p>
        </p:txBody>
      </p:sp>
      <p:sp>
        <p:nvSpPr>
          <p:cNvPr id="55" name="Text 12"/>
          <p:cNvSpPr/>
          <p:nvPr/>
        </p:nvSpPr>
        <p:spPr>
          <a:xfrm>
            <a:off x="6172200" y="308610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56" name="Shape 13"/>
          <p:cNvSpPr/>
          <p:nvPr/>
        </p:nvSpPr>
        <p:spPr>
          <a:xfrm>
            <a:off x="6675120" y="3086100"/>
            <a:ext cx="1828800" cy="685800"/>
          </a:xfrm>
          <a:prstGeom prst="rect">
            <a:avLst/>
          </a:prstGeom>
          <a:solidFill>
            <a:srgbClr val="7B5E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14"/>
          <p:cNvSpPr/>
          <p:nvPr/>
        </p:nvSpPr>
        <p:spPr>
          <a:xfrm>
            <a:off x="6675120" y="30861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Gain</a:t>
            </a:r>
            <a:endParaRPr lang="en-US" sz="1200" dirty="0"/>
          </a:p>
        </p:txBody>
      </p:sp>
      <p:sp>
        <p:nvSpPr>
          <p:cNvPr id="58" name="Shape 15"/>
          <p:cNvSpPr/>
          <p:nvPr/>
        </p:nvSpPr>
        <p:spPr>
          <a:xfrm>
            <a:off x="6675120" y="3909060"/>
            <a:ext cx="1828800" cy="502920"/>
          </a:xfrm>
          <a:prstGeom prst="rect">
            <a:avLst/>
          </a:prstGeom>
          <a:solidFill>
            <a:srgbClr val="F4F6F9"/>
          </a:solidFill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16"/>
          <p:cNvSpPr/>
          <p:nvPr/>
        </p:nvSpPr>
        <p:spPr>
          <a:xfrm>
            <a:off x="6675120" y="39090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AMI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(Adaptive Integral)</a:t>
            </a:r>
            <a:endParaRPr lang="en-US" sz="900" dirty="0"/>
          </a:p>
        </p:txBody>
      </p:sp>
      <p:sp>
        <p:nvSpPr>
          <p:cNvPr id="60" name="Shape 17"/>
          <p:cNvSpPr/>
          <p:nvPr/>
        </p:nvSpPr>
        <p:spPr>
          <a:xfrm>
            <a:off x="7589520" y="3771900"/>
            <a:ext cx="0" cy="13716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18"/>
          <p:cNvSpPr/>
          <p:nvPr/>
        </p:nvSpPr>
        <p:spPr>
          <a:xfrm>
            <a:off x="6590538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800" dirty="0"/>
          </a:p>
        </p:txBody>
      </p:sp>
      <p:sp>
        <p:nvSpPr>
          <p:cNvPr id="62" name="Shape 19"/>
          <p:cNvSpPr/>
          <p:nvPr/>
        </p:nvSpPr>
        <p:spPr>
          <a:xfrm>
            <a:off x="2616708" y="2766060"/>
            <a:ext cx="12344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20"/>
          <p:cNvSpPr/>
          <p:nvPr/>
        </p:nvSpPr>
        <p:spPr>
          <a:xfrm>
            <a:off x="2479548" y="278892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800" b="1" dirty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</a:t>
            </a:r>
            <a:r>
              <a:rPr lang="en-US" sz="800" b="1" dirty="0" smtClean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he-IL" sz="800" b="1" dirty="0" smtClean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</a:t>
            </a:r>
            <a:r>
              <a:rPr lang="en-US" sz="800" b="1" dirty="0" smtClean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</a:t>
            </a:r>
            <a:r>
              <a:rPr lang="en-US" sz="800" b="1" dirty="0">
                <a:solidFill>
                  <a:srgbClr val="2D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79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Goal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78" y="1325880"/>
            <a:ext cx="7599045" cy="1251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AMI for an FSO IM/DD link under weak log-normal turbulence + AWGN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optimal M-point 1D positive-intensity PAM constellation via Geometric Shaping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average transmit power constraint and non-negativity (x ≥ 0)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shaping gain &gt; 0.2 dB over standard uniform PAM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8630" y="2845308"/>
            <a:ext cx="7478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Strategy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1479" y="3180397"/>
            <a:ext cx="7490459" cy="73837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SA-based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with multi-start parallel architecture for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AMI evaluators: fast 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Gauss-</a:t>
            </a:r>
            <a:r>
              <a:rPr lang="en-US" sz="1300" dirty="0" err="1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Hermite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 loop) + adaptive integral (validation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-51435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FSO Channel Model  [1]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99726" y="609447"/>
                <a:ext cx="4630101" cy="38404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200" b="1" u="sng" dirty="0" smtClean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Channel Input/Output:</a:t>
                </a:r>
                <a:endParaRPr lang="en-US" sz="12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2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Transmitted intensity x chosen from M-</a:t>
                </a:r>
                <a:r>
                  <a:rPr lang="en-US" sz="1200" dirty="0" err="1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ary</a:t>
                </a:r>
                <a:r>
                  <a:rPr lang="en-US" sz="12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constellation </a:t>
                </a:r>
                <a:endParaRPr lang="he-IL" sz="1200" dirty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" sz="1200" dirty="0"/>
                  <a:t> </a:t>
                </a:r>
                <a:r>
                  <a:rPr lang="en-US" sz="12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with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he-IL" sz="1400" b="1" dirty="0" smtClean="0">
                  <a:solidFill>
                    <a:srgbClr val="1B2A4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400" b="1" dirty="0" smtClean="0">
                    <a:solidFill>
                      <a:schemeClr val="accent1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Channel </a:t>
                </a: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model: </a:t>
                </a:r>
                <a:r>
                  <a:rPr lang="en-US" sz="1400" b="1" dirty="0" smtClean="0">
                    <a:solidFill>
                      <a:schemeClr val="accent1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y </a:t>
                </a:r>
                <a:r>
                  <a:rPr lang="en-US" sz="1400" b="1" dirty="0">
                    <a:solidFill>
                      <a:schemeClr val="accent1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= h·R·x + </a:t>
                </a:r>
                <a:r>
                  <a:rPr lang="en-US" sz="1400" b="1" dirty="0" smtClean="0">
                    <a:solidFill>
                      <a:schemeClr val="accent1">
                        <a:lumMod val="50000"/>
                      </a:schemeClr>
                    </a:solidFill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Z</a:t>
                </a:r>
                <a:endParaRPr lang="en-US" sz="13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x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—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channel input (intensity, x ≥ 0)</a:t>
                </a:r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 — detector responsivity</a:t>
                </a:r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Z ~ N(0,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1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1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𝑛</m:t>
                        </m:r>
                      </m:sub>
                      <m:sup>
                        <m:r>
                          <a:rPr lang="en-US" sz="11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 — AWGN noise</a:t>
                </a:r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 — fading state (log-normal, weak turbulence)</a:t>
                </a:r>
                <a:endParaRPr lang="en-US" sz="1300" dirty="0"/>
              </a:p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1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100" dirty="0" smtClean="0"/>
                  <a:t>— </a:t>
                </a:r>
                <a:r>
                  <a:rPr lang="en-US" sz="1100" dirty="0"/>
                  <a:t>Log-amplitude variance (Theoretical parameter for the log-normal PDF</a:t>
                </a:r>
                <a:r>
                  <a:rPr lang="en-US" sz="1100" dirty="0" smtClean="0"/>
                  <a:t>).</a:t>
                </a:r>
              </a:p>
              <a:p>
                <a:pPr>
                  <a:lnSpc>
                    <a:spcPct val="115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1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1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100" dirty="0"/>
                  <a:t>— </a:t>
                </a:r>
                <a:r>
                  <a:rPr lang="en-US" sz="1100" dirty="0" err="1"/>
                  <a:t>Rytov</a:t>
                </a:r>
                <a:r>
                  <a:rPr lang="en-US" sz="1100" dirty="0"/>
                  <a:t> variance / Scintillation Index (Physical turbulence </a:t>
                </a:r>
                <a:r>
                  <a:rPr lang="en-US" sz="1100" dirty="0" smtClean="0"/>
                  <a:t>strength).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/>
                  <a:t>Relation</a:t>
                </a:r>
                <a:r>
                  <a:rPr lang="en-US" sz="1100" dirty="0"/>
                  <a:t>: </a:t>
                </a:r>
                <a:r>
                  <a:rPr lang="en-US" sz="1100" dirty="0" smtClean="0"/>
                  <a:t>Under </a:t>
                </a:r>
                <a:r>
                  <a:rPr lang="en-US" sz="1100" dirty="0"/>
                  <a:t>weak </a:t>
                </a:r>
                <a:r>
                  <a:rPr lang="en-US" sz="1100" dirty="0" smtClean="0"/>
                  <a:t>turbulence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100" i="1" dirty="0">
                        <a:latin typeface="Cambria Math" panose="02040503050406030204" pitchFamily="18" charset="0"/>
                      </a:rPr>
                      <m:t>≤ </m:t>
                    </m:r>
                  </m:oMath>
                </a14:m>
                <a:r>
                  <a:rPr lang="en-US" sz="1100" dirty="0"/>
                  <a:t>0.3</a:t>
                </a:r>
                <a:r>
                  <a:rPr lang="en-US" sz="1100" dirty="0" smtClean="0"/>
                  <a:t>),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 smtClean="0"/>
                  <a:t>4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sz="11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100" dirty="0" smtClean="0"/>
                  <a:t>.</a:t>
                </a:r>
                <a:endParaRPr lang="en-US" sz="11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200" b="1" u="sng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Fading distribution (weak turbulence):</a:t>
                </a:r>
                <a:endParaRPr lang="en-US" sz="1200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" sz="12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he-IL" sz="1200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ad>
                          <m:radPr>
                            <m:degHide m:val="on"/>
                            <m:ctrl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𝑋</m:t>
                                    </m:r>
                                  </m:sub>
                                </m:sSub>
                              </m:e>
                              <m:sup>
                                <m: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func>
                      <m:func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2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unc>
                                          <m:funcPr>
                                            <m:ctrlP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uncPr>
                                          <m:fNam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20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ln</m:t>
                                            </m:r>
                                          </m:fName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</m:e>
                                            </m:d>
                                          </m:e>
                                        </m:func>
                                        <m:r>
                                          <a:rPr lang="he-IL" sz="1200" b="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b>
                                      <m:sSubPr>
                                        <m:ctrlP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i="1" smtClea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8</m:t>
                                        </m:r>
                                        <m: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b>
                                        <m: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sz="1200" dirty="0" smtClean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200" b="1" u="sng" dirty="0" smtClean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Channel </a:t>
                </a:r>
                <a:r>
                  <a:rPr lang="en-US" sz="1200" b="1" u="sng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law:</a:t>
                </a:r>
                <a:endParaRPr lang="en-US" sz="1200" dirty="0" smtClean="0">
                  <a:solidFill>
                    <a:srgbClr val="002060"/>
                  </a:solidFill>
                </a:endParaRPr>
              </a:p>
              <a:p>
                <a:pPr>
                  <a:lnSpc>
                    <a:spcPct val="115000"/>
                  </a:lnSpc>
                </a:pPr>
                <a:r>
                  <a:rPr lang="he-IL" sz="1200" dirty="0" smtClean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limLoc m:val="undOvr"/>
                            <m:ctrl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f>
                              <m:fPr>
                                <m:ctrlP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sSup>
                                      <m:sSupPr>
                                        <m:ctrlP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sSub>
                                          <m:sSubPr>
                                            <m:ctrlP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  <m:sub>
                                            <m: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</m:e>
                                      <m:sup>
                                        <m: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func>
                              <m:funcPr>
                                <m:ctrlP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120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12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𝑦</m:t>
                                                </m:r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h</m:t>
                                                </m:r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𝑅𝑥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sSup>
                                          <m:sSupPr>
                                            <m:ctrlP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2</m:t>
                                                </m:r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200" i="1">
                                                    <a:solidFill>
                                                      <a:prstClr val="black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sub>
                                            </m:sSub>
                                          </m:e>
                                          <m:sup>
                                            <m:r>
                                              <a:rPr lang="en-US" sz="1200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d>
                              </m:e>
                            </m:func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</m:d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nary>
                      </m:e>
                    </m:nary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26" y="609447"/>
                <a:ext cx="4630101" cy="3840480"/>
              </a:xfrm>
              <a:prstGeom prst="rect">
                <a:avLst/>
              </a:prstGeom>
              <a:blipFill>
                <a:blip r:embed="rId3"/>
                <a:stretch>
                  <a:fillRect l="-1711" t="-159" b="-1269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 0" descr="/home/claude/extracted/slide4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978" y="66701"/>
            <a:ext cx="2856705" cy="100370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Farid &amp; Hranilovic, J. Lightwave Technol. 25, 1702 (2007)</a:t>
            </a:r>
            <a:endParaRPr 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4729827" y="1217772"/>
                <a:ext cx="4505613" cy="9541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200" b="1" dirty="0" smtClean="0">
                    <a:solidFill>
                      <a:schemeClr val="accent1">
                        <a:lumMod val="50000"/>
                      </a:schemeClr>
                    </a:solidFill>
                  </a:rPr>
                  <a:t>Channel Validation (4-PAM, SNR=15 dB,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l-GR" sz="12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sz="12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</m:e>
                      <m:sub>
                        <m:r>
                          <a:rPr lang="en-US" sz="12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  <m:sup>
                        <m:r>
                          <a:rPr lang="el-GR" sz="1200" b="1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200" b="1" dirty="0">
                    <a:solidFill>
                      <a:schemeClr val="accent1">
                        <a:lumMod val="50000"/>
                      </a:schemeClr>
                    </a:solidFill>
                  </a:rPr>
                  <a:t>=0.10):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100" dirty="0"/>
                  <a:t>Plotted P(</a:t>
                </a:r>
                <a:r>
                  <a:rPr lang="en-US" sz="1100" dirty="0" err="1"/>
                  <a:t>y|x</a:t>
                </a:r>
                <a:r>
                  <a:rPr lang="en-US" sz="1100" dirty="0"/>
                  <a:t>) PDFs and APPs</a:t>
                </a:r>
                <a:r>
                  <a:rPr lang="en-US" sz="1100" dirty="0" smtClean="0"/>
                  <a:t>.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100" dirty="0" smtClean="0"/>
                  <a:t>Verified </a:t>
                </a:r>
                <a:r>
                  <a:rPr lang="en-US" sz="1100" dirty="0"/>
                  <a:t>APP normalization </a:t>
                </a:r>
                <a:r>
                  <a:rPr lang="en-US" sz="1100" dirty="0" smtClean="0"/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1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∑</m:t>
                    </m:r>
                  </m:oMath>
                </a14:m>
                <a:r>
                  <a:rPr lang="he-IL" sz="1100" dirty="0" smtClean="0"/>
                  <a:t> </a:t>
                </a:r>
                <a:r>
                  <a:rPr lang="en-US" sz="1100" dirty="0" smtClean="0"/>
                  <a:t>P(</a:t>
                </a:r>
                <a:r>
                  <a:rPr lang="en-US" sz="1100" dirty="0" err="1" smtClean="0"/>
                  <a:t>x|y</a:t>
                </a:r>
                <a:r>
                  <a:rPr lang="en-US" sz="1100" dirty="0" smtClean="0"/>
                  <a:t>) = 1) and </a:t>
                </a:r>
                <a:r>
                  <a:rPr lang="en-US" sz="1100" dirty="0"/>
                  <a:t>boundary equality</a:t>
                </a:r>
                <a:r>
                  <a:rPr lang="en-US" sz="1100" dirty="0" smtClean="0"/>
                  <a:t>.</a:t>
                </a:r>
                <a:endParaRPr lang="he-IL" sz="1100" dirty="0" smtClean="0"/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100" dirty="0" smtClean="0"/>
                  <a:t>Checked </a:t>
                </a:r>
                <a:r>
                  <a:rPr lang="en-US" sz="1100" dirty="0"/>
                  <a:t>boundary monotonicity and AMI limits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≤ 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≤ </m:t>
                    </m:r>
                    <m:sSub>
                      <m:sSub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10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1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r>
                  <a:rPr lang="he-IL" sz="1100" dirty="0" smtClean="0"/>
                  <a:t>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1100" dirty="0" smtClean="0"/>
                  <a:t>Confirmed </a:t>
                </a:r>
                <a:r>
                  <a:rPr lang="en-US" sz="1100" dirty="0"/>
                  <a:t>agreement between Fast (GH) and High-Precision evaluators.</a:t>
                </a: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9827" y="1217772"/>
                <a:ext cx="4505613" cy="954107"/>
              </a:xfrm>
              <a:prstGeom prst="rect">
                <a:avLst/>
              </a:prstGeom>
              <a:blipFill>
                <a:blip r:embed="rId5"/>
                <a:stretch>
                  <a:fillRect l="-135" b="-4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904" y="2553449"/>
            <a:ext cx="2335216" cy="19911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469" y="2577082"/>
            <a:ext cx="2280536" cy="19438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48121"/>
            <a:ext cx="8412480" cy="633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he-IL" sz="2400" b="1" dirty="0" smtClean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&amp; AMI 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r>
              <a:rPr lang="he-IL" sz="2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24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2]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Shaping Strategy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840480" cy="266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 smtClean="0"/>
              <a:t>The </a:t>
            </a:r>
            <a:r>
              <a:rPr lang="en-US" sz="1200" b="1" dirty="0"/>
              <a:t>Concept:</a:t>
            </a:r>
            <a:r>
              <a:rPr lang="en-US" sz="1200" dirty="0"/>
              <a:t> Optimizing constellation coordinates to match channel statistics</a:t>
            </a:r>
            <a:r>
              <a:rPr lang="en-US" sz="1200" dirty="0" smtClean="0"/>
              <a:t>.</a:t>
            </a:r>
            <a:endParaRPr lang="he-IL" sz="1200" dirty="0" smtClean="0"/>
          </a:p>
          <a:p>
            <a:endParaRPr lang="en-US" sz="1200" dirty="0"/>
          </a:p>
          <a:p>
            <a:r>
              <a:rPr lang="en-US" sz="1200" b="1" dirty="0"/>
              <a:t>The Goal:</a:t>
            </a:r>
            <a:r>
              <a:rPr lang="en-US" sz="1200" dirty="0"/>
              <a:t> Maximize Average Mutual Information (AMI</a:t>
            </a:r>
            <a:r>
              <a:rPr lang="en-US" sz="1200" dirty="0" smtClean="0"/>
              <a:t>) the </a:t>
            </a:r>
            <a:r>
              <a:rPr lang="en-US" sz="1200" dirty="0"/>
              <a:t>true capacity limit</a:t>
            </a:r>
            <a:r>
              <a:rPr lang="en-US" sz="1200" dirty="0" smtClean="0"/>
              <a:t>.</a:t>
            </a:r>
            <a:endParaRPr lang="he-IL" sz="1200" dirty="0" smtClean="0"/>
          </a:p>
          <a:p>
            <a:endParaRPr lang="en-US" sz="1200" dirty="0"/>
          </a:p>
          <a:p>
            <a:r>
              <a:rPr lang="en-US" sz="1200" b="1" dirty="0"/>
              <a:t>System Impact:</a:t>
            </a:r>
            <a:r>
              <a:rPr lang="en-US" sz="1200" dirty="0"/>
              <a:t> Higher data rates, better power efficiency, and extended link reach</a:t>
            </a:r>
            <a:r>
              <a:rPr lang="en-US" sz="1200" dirty="0" smtClean="0"/>
              <a:t>.</a:t>
            </a:r>
            <a:endParaRPr lang="he-IL" sz="1200" dirty="0" smtClean="0"/>
          </a:p>
          <a:p>
            <a:endParaRPr lang="en-US" sz="1200" dirty="0"/>
          </a:p>
          <a:p>
            <a:r>
              <a:rPr lang="en-US" sz="1200" b="1" dirty="0"/>
              <a:t>The Method:</a:t>
            </a:r>
            <a:r>
              <a:rPr lang="en-US" sz="1200" dirty="0"/>
              <a:t> Simulated Annealing (SA) to escape local-maxima traps.</a:t>
            </a:r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AMI Evaluator Architecture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4846320" y="1325880"/>
                <a:ext cx="4147368" cy="26659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200" b="1" i="1" dirty="0" smtClean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𝑨𝑴𝑰</m:t>
                      </m:r>
                      <m:r>
                        <a:rPr lang="en-US" sz="1200" b="1" i="1" dirty="0" smtClean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 </m:t>
                      </m:r>
                      <m:f>
                        <m:fPr>
                          <m:ctrlPr>
                            <a:rPr lang="en-US" sz="1200" b="1" i="1" dirty="0"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n-US" sz="1200" b="1" i="1" dirty="0"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 dirty="0"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𝑴</m:t>
                          </m:r>
                        </m:den>
                      </m:f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∑ ∫ 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𝑷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(</m:t>
                      </m:r>
                      <m:r>
                        <a:rPr lang="en-US" sz="1200" b="1" i="1" dirty="0" err="1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𝒚</m:t>
                      </m:r>
                      <m:r>
                        <a:rPr lang="en-US" sz="1200" b="1" i="1" dirty="0" err="1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|</m:t>
                      </m:r>
                      <m:r>
                        <a:rPr lang="en-US" sz="1200" b="1" i="1" dirty="0" err="1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𝒙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ᵢ) 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𝒍𝒐𝒈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₂</m:t>
                      </m:r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[</m:t>
                      </m:r>
                      <m:f>
                        <m:fPr>
                          <m:ctrlPr>
                            <a:rPr lang="en-US" sz="1200" b="1" i="1" dirty="0"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n-US" sz="1200" b="1" i="1" dirty="0"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1200" b="1" i="1" dirty="0"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200" b="1" i="1" dirty="0" err="1"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𝒚</m:t>
                              </m:r>
                            </m:e>
                            <m:e>
                              <m:r>
                                <a:rPr lang="en-US" sz="1200" b="1" i="1" dirty="0" err="1"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𝒙</m:t>
                              </m:r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ᵢ</m:t>
                              </m:r>
                            </m:e>
                          </m:d>
                        </m:num>
                        <m:den>
                          <m:r>
                            <a:rPr lang="en-US" sz="1200" b="1" i="1" dirty="0"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𝑷</m:t>
                          </m:r>
                          <m:d>
                            <m:dPr>
                              <m:ctrlPr>
                                <a:rPr lang="en-US" sz="1200" b="1" i="1" dirty="0"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dPr>
                            <m:e>
                              <m:r>
                                <a:rPr lang="en-US" sz="1200" b="1" i="1" dirty="0"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𝒚</m:t>
                              </m:r>
                            </m:e>
                          </m:d>
                        </m:den>
                      </m:f>
                      <m:r>
                        <a:rPr lang="en-US" sz="1200" b="1" i="1" dirty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] </m:t>
                      </m:r>
                      <m:r>
                        <a:rPr lang="en-US" sz="1200" b="1" i="1" dirty="0" err="1" smtClean="0"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𝒅𝒚</m:t>
                      </m:r>
                    </m:oMath>
                  </m:oMathPara>
                </a14:m>
                <a:endParaRPr lang="en-US" sz="1400" b="1" dirty="0"/>
              </a:p>
              <a:p>
                <a:pPr>
                  <a:lnSpc>
                    <a:spcPct val="115000"/>
                  </a:lnSpc>
                </a:pPr>
                <a:r>
                  <a:rPr lang="en-US" sz="1200" dirty="0">
                    <a:latin typeface="Consolas" pitchFamily="34" charset="0"/>
                    <a:ea typeface="Consolas" pitchFamily="34" charset="-122"/>
                    <a:cs typeface="Consolas" pitchFamily="34" charset="-12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𝑃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𝑦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) = </m:t>
                    </m:r>
                    <m:f>
                      <m:fPr>
                        <m:ctrlPr>
                          <a:rPr lang="en-US" sz="1200" i="1" dirty="0" smtClean="0"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</m:ctrlPr>
                      </m:fPr>
                      <m:num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1</m:t>
                        </m:r>
                      </m:num>
                      <m:den>
                        <m:r>
                          <a:rPr lang="en-US" sz="1200" i="1" dirty="0" smtClean="0">
                            <a:latin typeface="Cambria Math" panose="02040503050406030204" pitchFamily="18" charset="0"/>
                            <a:ea typeface="Consolas" pitchFamily="34" charset="-122"/>
                            <a:cs typeface="Consolas" pitchFamily="34" charset="-120"/>
                          </a:rPr>
                          <m:t>𝑀</m:t>
                        </m:r>
                      </m:den>
                    </m:f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 ∑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𝑃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𝑦</m:t>
                    </m:r>
                    <m:r>
                      <a:rPr lang="en-US" sz="1200" i="1" dirty="0" err="1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  <a:ea typeface="Consolas" pitchFamily="34" charset="-122"/>
                        <a:cs typeface="Consolas" pitchFamily="34" charset="-120"/>
                      </a:rPr>
                      <m:t>ⱼ)</m:t>
                    </m:r>
                  </m:oMath>
                </a14:m>
                <a:endParaRPr lang="en-US" sz="14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200" b="1" u="sng" dirty="0" smtClean="0">
                    <a:solidFill>
                      <a:srgbClr val="2D6DA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/>
                </a:r>
                <a:br>
                  <a:rPr lang="en-US" sz="1200" b="1" u="sng" dirty="0" smtClean="0">
                    <a:solidFill>
                      <a:srgbClr val="2D6DA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</a:br>
                <a:r>
                  <a:rPr lang="en-US" sz="1200" b="1" u="sng" dirty="0" smtClean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Fast </a:t>
                </a:r>
                <a:r>
                  <a:rPr lang="en-US" sz="1200" b="1" u="sng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Evaluator (SA objective):</a:t>
                </a:r>
                <a:endParaRPr lang="en-US" sz="1200" dirty="0"/>
              </a:p>
              <a:p>
                <a:pPr>
                  <a:lnSpc>
                    <a:spcPct val="115000"/>
                  </a:lnSpc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Channel Integral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P(</a:t>
                </a:r>
                <a:r>
                  <a:rPr lang="en-US" sz="1100" dirty="0" err="1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y|x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):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Fast Gauss-</a:t>
                </a:r>
                <a:r>
                  <a:rPr lang="en-US" sz="1100" dirty="0" err="1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Hermite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(GH)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quadrature.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AMI Integral</a:t>
                </a:r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Trapezoidal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rule on a sparse non-uniform grid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endParaRPr lang="en-US" sz="12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200" b="1" u="sng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Validation Evaluator (ground truth):</a:t>
                </a:r>
                <a:endParaRPr lang="en-US" sz="1200" dirty="0"/>
              </a:p>
              <a:p>
                <a:pPr>
                  <a:lnSpc>
                    <a:spcPct val="115000"/>
                  </a:lnSpc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Channel Integral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P(</a:t>
                </a:r>
                <a:r>
                  <a:rPr lang="en-US" sz="1100" dirty="0" err="1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y|x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):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High-precision MATLAB adaptive integral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().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AMI Integral</a:t>
                </a:r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Trapezoidal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rule on a highly dense validation grid.</a:t>
                </a:r>
                <a:endParaRPr lang="en-US" sz="120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325880"/>
                <a:ext cx="4147368" cy="2665994"/>
              </a:xfrm>
              <a:prstGeom prst="rect">
                <a:avLst/>
              </a:prstGeom>
              <a:blipFill>
                <a:blip r:embed="rId3"/>
                <a:stretch>
                  <a:fillRect l="-220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274320" y="4586835"/>
            <a:ext cx="284404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8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Kayhan</a:t>
            </a: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n-US" sz="8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Montorsi</a:t>
            </a: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IEEE T. </a:t>
            </a:r>
            <a:r>
              <a:rPr lang="en-US" sz="8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Wirel</a:t>
            </a: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8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</a:t>
            </a: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13, 2874 (2014)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Algorithm  </a:t>
            </a:r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</a:t>
            </a: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11480" y="9875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for AMI Maximization</a:t>
            </a:r>
            <a:endParaRPr lang="en-US" sz="13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11480" y="1280160"/>
                <a:ext cx="5212080" cy="2743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15000"/>
                  </a:lnSpc>
                </a:pPr>
                <a:r>
                  <a:rPr lang="en-US" sz="1100" b="1" dirty="0" smtClean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INIT: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Set T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₀,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cooling rate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α</a:t>
                </a:r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dirty="0" smtClean="0"/>
                  <a:t>and Number of </a:t>
                </a:r>
                <a:r>
                  <a:rPr lang="en-US" sz="1100" dirty="0"/>
                  <a:t>Iterations (</a:t>
                </a:r>
                <a:r>
                  <a:rPr lang="en-US" sz="1100" dirty="0" err="1"/>
                  <a:t>N_iter</a:t>
                </a:r>
                <a:r>
                  <a:rPr lang="en-US" sz="1100" dirty="0" smtClean="0"/>
                  <a:t>).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dirty="0"/>
                  <a:t>Start from a uniform-PAM baseline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100" dirty="0"/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100" dirty="0"/>
              </a:p>
              <a:p>
                <a:pPr>
                  <a:lnSpc>
                    <a:spcPct val="115000"/>
                  </a:lnSpc>
                </a:pPr>
                <a:r>
                  <a:rPr lang="en-US" sz="1100" b="1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ITERATE: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step t = 1 to </a:t>
                </a:r>
                <a:r>
                  <a:rPr lang="en-US" sz="1100" dirty="0" err="1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N_iter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endParaRPr lang="en-US" sz="1100" dirty="0"/>
              </a:p>
              <a:p>
                <a:pPr>
                  <a:lnSpc>
                    <a:spcPct val="115000"/>
                  </a:lnSpc>
                </a:pP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1. Perturb: Add adaptive Gaussian noise to all constellation points simultaneously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2. Project: Enforce constraints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(IM/DD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shift,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power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norm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3. Evaluate: Compute AMI via the fast Gauss-</a:t>
                </a:r>
                <a:r>
                  <a:rPr lang="en-US" sz="1100" dirty="0" err="1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Hermite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estimator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4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r>
                  <a:rPr lang="en-US" sz="1100" dirty="0"/>
                  <a:t> Acceptance </a:t>
                </a:r>
                <a:r>
                  <a:rPr lang="en-US" sz="1100" dirty="0" smtClean="0"/>
                  <a:t>Rule</a:t>
                </a:r>
                <a:r>
                  <a:rPr lang="he-IL" sz="1100" dirty="0" smtClean="0"/>
                  <a:t>:</a:t>
                </a:r>
                <a:endParaRPr lang="en-US" sz="1100" dirty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If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AMI↑ → accept. 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Else If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AMI↓ by ΔC → accept with </a:t>
                </a:r>
                <a:r>
                  <a:rPr lang="en-US" sz="1100" dirty="0"/>
                  <a:t>probability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−|</m:t>
                            </m:r>
                            <m:r>
                              <m:rPr>
                                <m:nor/>
                              </m:rPr>
                              <a:rPr lang="en-US" sz="1100" dirty="0">
                                <a:solidFill>
                                  <a:srgbClr val="222222"/>
                                </a:solidFill>
                                <a:latin typeface="Calibri" pitchFamily="34" charset="0"/>
                                <a:ea typeface="Calibri" pitchFamily="34" charset="-122"/>
                                <a:cs typeface="Calibri" pitchFamily="34" charset="-120"/>
                              </a:rPr>
                              <m:t>Δ</m:t>
                            </m:r>
                            <m:r>
                              <m:rPr>
                                <m:nor/>
                              </m:rPr>
                              <a:rPr lang="en-US" sz="1100" dirty="0">
                                <a:solidFill>
                                  <a:srgbClr val="222222"/>
                                </a:solidFill>
                                <a:latin typeface="Calibri" pitchFamily="34" charset="0"/>
                                <a:ea typeface="Calibri" pitchFamily="34" charset="-122"/>
                                <a:cs typeface="Calibri" pitchFamily="34" charset="-120"/>
                              </a:rPr>
                              <m:t>C</m:t>
                            </m:r>
                            <m:r>
                              <a:rPr lang="en-US" sz="1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en-US" sz="14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den>
                        </m:f>
                      </m:sup>
                    </m:sSup>
                  </m:oMath>
                </a14:m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5. Track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Best: Always save the constellation if current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AMI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&gt;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Best</a:t>
                </a:r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AMI.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>
                  <a:lnSpc>
                    <a:spcPct val="115000"/>
                  </a:lnSpc>
                </a:pP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6. </a:t>
                </a:r>
                <a:r>
                  <a:rPr lang="en-US" sz="11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Cool: T → α·T.  </a:t>
                </a:r>
                <a:endParaRPr lang="he-IL" sz="11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100" dirty="0"/>
              </a:p>
              <a:p>
                <a:pPr>
                  <a:lnSpc>
                    <a:spcPct val="115000"/>
                  </a:lnSpc>
                </a:pPr>
                <a:r>
                  <a:rPr lang="en-US" sz="1100" b="1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OUTPUT: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Constellation with</a:t>
                </a:r>
                <a:r>
                  <a:rPr lang="he-IL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Best AMI.</a:t>
                </a:r>
                <a:endParaRPr lang="en-US" sz="1100" dirty="0"/>
              </a:p>
            </p:txBody>
          </p:sp>
        </mc:Choice>
        <mc:Fallback xmlns=""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280160"/>
                <a:ext cx="5212080" cy="2743200"/>
              </a:xfrm>
              <a:prstGeom prst="rect">
                <a:avLst/>
              </a:prstGeom>
              <a:blipFill>
                <a:blip r:embed="rId3"/>
                <a:stretch>
                  <a:fillRect l="-1754" b="-1556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5989320" y="914400"/>
            <a:ext cx="2971800" cy="3200400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0058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u="sng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u="sng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6126480" y="1325880"/>
                <a:ext cx="2651760" cy="2743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100" b="1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Non-negativity (IM/DD):</a:t>
                </a:r>
                <a:endParaRPr lang="en-US" sz="11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𝑥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ᵢ ≥ 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0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 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𝑓𝑜𝑟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𝑎𝑙𝑙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𝑖</m:t>
                      </m:r>
                    </m:oMath>
                  </m:oMathPara>
                </a14:m>
                <a:endParaRPr lang="en-US" sz="1100" dirty="0">
                  <a:solidFill>
                    <a:srgbClr val="00206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100" b="1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Average power:</a:t>
                </a:r>
                <a:endParaRPr lang="en-US" sz="1100" dirty="0"/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sSubPr>
                        <m:e>
                          <m: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𝑃</m:t>
                          </m:r>
                        </m:e>
                        <m:sub>
                          <m: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𝑎𝑣𝑔</m:t>
                          </m:r>
                        </m:sub>
                      </m:sSub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 </m:t>
                      </m:r>
                      <m:f>
                        <m:fPr>
                          <m:ctrlP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1</m:t>
                          </m:r>
                        </m:num>
                        <m:den>
                          <m: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𝑀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1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𝑥</m:t>
                          </m:r>
                          <m:r>
                            <a:rPr lang="en-US" sz="1100" i="1" dirty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  <m:t>ᵢ</m:t>
                          </m:r>
                        </m:e>
                      </m:nary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= </m:t>
                      </m:r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𝑐𝑜𝑛𝑠𝑡</m:t>
                      </m:r>
                      <m:r>
                        <a:rPr lang="en-US" sz="1100" b="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</m:oMath>
                  </m:oMathPara>
                </a14:m>
                <a:endParaRPr lang="en-US" sz="1100" dirty="0">
                  <a:solidFill>
                    <a:srgbClr val="00206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100" b="1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Fixed SNR:</a:t>
                </a:r>
                <a:endParaRPr lang="en-US" sz="1100" dirty="0"/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𝑆𝑁𝑅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=</m:t>
                      </m:r>
                      <m:f>
                        <m:fPr>
                          <m:ctrlPr>
                            <a:rPr lang="en-US" sz="1100" i="1" dirty="0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  <a:ea typeface="Consolas" pitchFamily="34" charset="-122"/>
                              <a:cs typeface="Consolas" pitchFamily="34" charset="-12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bPr>
                            <m:e>
                              <m:r>
                                <a:rPr lang="en-US" sz="11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100" i="1" dirty="0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𝑎𝑣𝑔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en-US" sz="11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</m:ctrlPr>
                            </m:sSubSupPr>
                            <m:e>
                              <m:r>
                                <a:rPr lang="en-US" sz="11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100" i="1" dirty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  <a:ea typeface="Consolas" pitchFamily="34" charset="-122"/>
                                  <a:cs typeface="Consolas" pitchFamily="34" charset="-12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sz="1100" dirty="0">
                  <a:solidFill>
                    <a:srgbClr val="00206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11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1100" b="1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Min. gap between points:</a:t>
                </a:r>
                <a:endParaRPr lang="en-US" sz="1100" dirty="0"/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|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𝑥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ᵢ – 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𝑥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ⱼ| ≥ </m:t>
                      </m:r>
                      <m:r>
                        <a:rPr lang="he-IL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0</m:t>
                      </m:r>
                      <m:r>
                        <a:rPr lang="he-IL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.</m:t>
                      </m:r>
                      <m:r>
                        <a:rPr lang="he-IL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05</m:t>
                      </m:r>
                      <m:r>
                        <a:rPr lang="en-US" sz="1100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 </m:t>
                      </m:r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𝑓𝑜𝑟</m:t>
                      </m:r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 </m:t>
                      </m:r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𝑖</m:t>
                      </m:r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≠</m:t>
                      </m:r>
                      <m:r>
                        <a:rPr lang="en-US" sz="1100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onsolas" pitchFamily="34" charset="-122"/>
                          <a:cs typeface="Consolas" pitchFamily="34" charset="-120"/>
                        </a:rPr>
                        <m:t>𝑗</m:t>
                      </m:r>
                    </m:oMath>
                  </m:oMathPara>
                </a14:m>
                <a:endParaRPr lang="en-US" sz="11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1325880"/>
                <a:ext cx="2651760" cy="2743200"/>
              </a:xfrm>
              <a:prstGeom prst="rect">
                <a:avLst/>
              </a:prstGeom>
              <a:blipFill>
                <a:blip r:embed="rId4"/>
                <a:stretch>
                  <a:fillRect l="-321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274320" y="4548201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 smtClean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</a:t>
            </a: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3] Qu &amp; Djordjevic, IEEE Access 7, 21454 (2019)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AMI vs SNR  </a:t>
            </a:r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</a:t>
            </a: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M=8 PAM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873555" y="746641"/>
            <a:ext cx="6898845" cy="217170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6"/>
              <p:cNvSpPr/>
              <p:nvPr/>
            </p:nvSpPr>
            <p:spPr>
              <a:xfrm>
                <a:off x="1112780" y="649486"/>
                <a:ext cx="6420394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Setup: M = 8 </a:t>
                </a:r>
                <a:r>
                  <a:rPr lang="en-US" sz="900" dirty="0"/>
                  <a:t>(PAM Baseline)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| SNR ∈ {5,10,15,20,25,30} dB × 4 turbulence levels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∈ {0.0, 0.1, 0.2, 0.3}| 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 </a:t>
                </a:r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STARTS/</a:t>
                </a:r>
                <a:r>
                  <a:rPr lang="en-US" sz="900" dirty="0" err="1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pt</a:t>
                </a:r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| 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30K </a:t>
                </a:r>
                <a:r>
                  <a:rPr lang="en-US" sz="900" dirty="0" err="1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iter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/start</a:t>
                </a:r>
                <a:r>
                  <a:rPr lang="en-US" sz="900" dirty="0" smtClean="0"/>
                  <a:t>)</a:t>
                </a:r>
                <a:endParaRPr lang="en-US" sz="900" dirty="0"/>
              </a:p>
            </p:txBody>
          </p:sp>
        </mc:Choice>
        <mc:Fallback xmlns="">
          <p:sp>
            <p:nvSpPr>
              <p:cNvPr id="10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2780" y="649486"/>
                <a:ext cx="6420394" cy="411480"/>
              </a:xfrm>
              <a:prstGeom prst="rect">
                <a:avLst/>
              </a:prstGeom>
              <a:blipFill>
                <a:blip r:embed="rId3"/>
                <a:stretch>
                  <a:fillRect l="-114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713" y="1957498"/>
            <a:ext cx="4270813" cy="273138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04" y="1961247"/>
            <a:ext cx="3873514" cy="27238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174" y="1038090"/>
            <a:ext cx="7643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rgbClr val="002060"/>
                </a:solidFill>
              </a:rPr>
              <a:t>Graph </a:t>
            </a:r>
            <a:r>
              <a:rPr lang="en-US" sz="1200" b="1" dirty="0">
                <a:solidFill>
                  <a:srgbClr val="002060"/>
                </a:solidFill>
              </a:rPr>
              <a:t>Analysis: </a:t>
            </a:r>
            <a:r>
              <a:rPr lang="en-US" sz="1200" dirty="0"/>
              <a:t>The </a:t>
            </a:r>
            <a:r>
              <a:rPr lang="en-US" sz="1200" b="1" dirty="0"/>
              <a:t>first</a:t>
            </a:r>
            <a:r>
              <a:rPr lang="en-US" sz="1200" dirty="0"/>
              <a:t> graph compares absolute AMI capacity against SNR and turbulence level (Solid = Optimized vs. Dashed = Uniform), while the </a:t>
            </a:r>
            <a:r>
              <a:rPr lang="en-US" sz="1200" b="1" dirty="0"/>
              <a:t>second</a:t>
            </a:r>
            <a:r>
              <a:rPr lang="en-US" sz="1200" dirty="0"/>
              <a:t> isolates the net shaping gain</a:t>
            </a:r>
            <a:r>
              <a:rPr lang="en-US" sz="1200" dirty="0" smtClean="0"/>
              <a:t>.</a:t>
            </a:r>
          </a:p>
          <a:p>
            <a:r>
              <a:rPr lang="en-US" sz="1200" b="1" dirty="0" smtClean="0">
                <a:solidFill>
                  <a:srgbClr val="002060"/>
                </a:solidFill>
              </a:rPr>
              <a:t>The </a:t>
            </a:r>
            <a:r>
              <a:rPr lang="en-US" sz="1200" b="1" dirty="0">
                <a:solidFill>
                  <a:srgbClr val="002060"/>
                </a:solidFill>
              </a:rPr>
              <a:t>Trend: </a:t>
            </a:r>
            <a:r>
              <a:rPr lang="en-US" sz="1200" dirty="0"/>
              <a:t>Across the entire 5–30 dB SNR sweep, the shaping gain remains remarkably consistent (0.32–0.49 bits/</a:t>
            </a:r>
            <a:r>
              <a:rPr lang="en-US" sz="1200" dirty="0" err="1"/>
              <a:t>sym</a:t>
            </a:r>
            <a:r>
              <a:rPr lang="en-US" sz="1200" dirty="0"/>
              <a:t>), proving robustness to baseline noise.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Optimized Constellations &amp; Shaping Gain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1115505" y="3182159"/>
            <a:ext cx="2393769" cy="1568156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316642" y="3171963"/>
            <a:ext cx="1611473" cy="306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Shaping Gain (M=8, 20 dB)</a:t>
            </a:r>
            <a:endParaRPr lang="en-US" sz="11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1"/>
              <p:cNvSpPr/>
              <p:nvPr/>
            </p:nvSpPr>
            <p:spPr>
              <a:xfrm>
                <a:off x="1316642" y="3432054"/>
                <a:ext cx="2087462" cy="1234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0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0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𝑅</m:t>
                        </m:r>
                      </m:sub>
                      <m:sup>
                        <m:r>
                          <a:rPr lang="en-US" sz="1000" i="1" dirty="0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0.0  →  +0.078 bits</a:t>
                </a:r>
                <a:endParaRPr lang="en-US" sz="1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𝑅</m:t>
                        </m:r>
                      </m:sub>
                      <m:sup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0.1  →  +0.361 bits</a:t>
                </a:r>
                <a:endParaRPr lang="en-US" sz="1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𝑅</m:t>
                        </m:r>
                      </m:sub>
                      <m:sup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0.2  →  +0.339 bits</a:t>
                </a:r>
                <a:endParaRPr lang="en-US" sz="1000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SupPr>
                      <m:e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𝜎</m:t>
                        </m:r>
                      </m:e>
                      <m:sub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𝑅</m:t>
                        </m:r>
                      </m:sub>
                      <m:sup>
                        <m:r>
                          <a:rPr lang="en-US" sz="1000" i="1" dirty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= 0.3  →  +</a:t>
                </a:r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0.34</a:t>
                </a:r>
                <a:r>
                  <a:rPr lang="he-IL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8</a:t>
                </a:r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bits</a:t>
                </a:r>
                <a:endParaRPr lang="en-US" sz="10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10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GS gain </a:t>
                </a:r>
                <a:r>
                  <a:rPr lang="en-US" sz="10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≈ 4</a:t>
                </a:r>
                <a:r>
                  <a:rPr lang="en-US" sz="10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× higher under turbulence</a:t>
                </a:r>
                <a:endParaRPr lang="en-US" sz="1000" dirty="0"/>
              </a:p>
            </p:txBody>
          </p:sp>
        </mc:Choice>
        <mc:Fallback xmlns="">
          <p:sp>
            <p:nvSpPr>
              <p:cNvPr id="15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642" y="3432054"/>
                <a:ext cx="2087462" cy="1234440"/>
              </a:xfrm>
              <a:prstGeom prst="rect">
                <a:avLst/>
              </a:prstGeom>
              <a:blipFill>
                <a:blip r:embed="rId3"/>
                <a:stretch>
                  <a:fillRect l="-380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5"/>
          <p:cNvSpPr/>
          <p:nvPr/>
        </p:nvSpPr>
        <p:spPr>
          <a:xfrm>
            <a:off x="1458228" y="615578"/>
            <a:ext cx="6126480" cy="243324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6"/>
              <p:cNvSpPr/>
              <p:nvPr/>
            </p:nvSpPr>
            <p:spPr>
              <a:xfrm>
                <a:off x="1599667" y="535794"/>
                <a:ext cx="6760562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Setup: M = 8 </a:t>
                </a:r>
                <a:r>
                  <a:rPr lang="en-US" sz="900" dirty="0"/>
                  <a:t>(PAM Baseline)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| SNR = 20 dB × 4 turbulence levels 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9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∈ {0.0, 0.1, 0.2, 0.3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}| </a:t>
                </a:r>
                <a:r>
                  <a:rPr lang="en-US" sz="9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6 STARTS/level | 50K </a:t>
                </a:r>
                <a:r>
                  <a:rPr lang="en-US" sz="900" dirty="0" err="1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iter</a:t>
                </a:r>
                <a:r>
                  <a:rPr lang="en-US" sz="9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/start</a:t>
                </a:r>
                <a:r>
                  <a:rPr lang="en-US" sz="900" dirty="0" smtClean="0"/>
                  <a:t>)</a:t>
                </a:r>
                <a:endParaRPr lang="en-US" sz="900" dirty="0"/>
              </a:p>
            </p:txBody>
          </p:sp>
        </mc:Choice>
        <mc:Fallback xmlns="">
          <p:sp>
            <p:nvSpPr>
              <p:cNvPr id="1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667" y="535794"/>
                <a:ext cx="6760562" cy="411480"/>
              </a:xfrm>
              <a:prstGeom prst="rect">
                <a:avLst/>
              </a:prstGeom>
              <a:blipFill>
                <a:blip r:embed="rId4"/>
                <a:stretch>
                  <a:fillRect l="-108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02" y="2935087"/>
            <a:ext cx="4652358" cy="18221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5133" y="1233318"/>
            <a:ext cx="2152391" cy="155771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307" y="1276693"/>
            <a:ext cx="6660826" cy="153609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2838" y="858902"/>
            <a:ext cx="6685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>
                <a:solidFill>
                  <a:srgbClr val="002060"/>
                </a:solidFill>
              </a:rPr>
              <a:t>Blue </a:t>
            </a:r>
            <a:r>
              <a:rPr lang="en-US" sz="1000" b="1" dirty="0">
                <a:solidFill>
                  <a:srgbClr val="002060"/>
                </a:solidFill>
              </a:rPr>
              <a:t>(Uniform) vs. Red (Optimized):</a:t>
            </a:r>
            <a:r>
              <a:rPr lang="en-US" sz="1000" dirty="0">
                <a:solidFill>
                  <a:srgbClr val="002060"/>
                </a:solidFill>
              </a:rPr>
              <a:t> </a:t>
            </a:r>
            <a:r>
              <a:rPr lang="en-US" sz="1000" dirty="0"/>
              <a:t>Visualizes how the algorithm shifts symbols from the evenly spaced baseline. </a:t>
            </a:r>
            <a:endParaRPr lang="he-IL" sz="1000" dirty="0" smtClean="0"/>
          </a:p>
          <a:p>
            <a:r>
              <a:rPr lang="en-US" sz="1000" b="1" dirty="0" smtClean="0">
                <a:solidFill>
                  <a:srgbClr val="002060"/>
                </a:solidFill>
              </a:rPr>
              <a:t>The </a:t>
            </a:r>
            <a:r>
              <a:rPr lang="en-US" sz="1000" b="1" dirty="0">
                <a:solidFill>
                  <a:srgbClr val="002060"/>
                </a:solidFill>
              </a:rPr>
              <a:t>Trend:</a:t>
            </a:r>
            <a:r>
              <a:rPr lang="en-US" sz="1000" dirty="0">
                <a:solidFill>
                  <a:srgbClr val="002060"/>
                </a:solidFill>
              </a:rPr>
              <a:t> </a:t>
            </a:r>
            <a:r>
              <a:rPr lang="en-US" sz="1000" dirty="0"/>
              <a:t>As turbulence increases, symbols are actively clustered toward lower intensities (left) to avoid multiplicative noise</a:t>
            </a:r>
            <a:r>
              <a:rPr lang="en-US" sz="1000" dirty="0" smtClean="0"/>
              <a:t>.</a:t>
            </a:r>
            <a:endParaRPr lang="en-US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512838" y="2852117"/>
            <a:ext cx="30676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solidFill>
                  <a:srgbClr val="002060"/>
                </a:solidFill>
              </a:rPr>
              <a:t>Performance Summary: AMI &amp; Shaping </a:t>
            </a:r>
            <a:r>
              <a:rPr lang="en-US" sz="1000" b="1" dirty="0" smtClean="0">
                <a:solidFill>
                  <a:srgbClr val="002060"/>
                </a:solidFill>
              </a:rPr>
              <a:t>Gain</a:t>
            </a:r>
            <a:r>
              <a:rPr lang="he-IL" sz="1000" b="1" dirty="0" smtClean="0"/>
              <a:t>: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02920" y="9418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instability in P(y|x)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02920" y="1066581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 integration prone to severe errors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9418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0881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change </a:t>
            </a:r>
            <a:r>
              <a:rPr lang="en-US" sz="1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 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 h) 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strictly bounded limits for stable Gaussian integration.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562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computational bottleneck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02920" y="2007761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~20-50K 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evaluations per run is extremely slow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20208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Dual-Evaluator: Fast Gauss-</a:t>
            </a:r>
            <a:r>
              <a:rPr lang="en-US" sz="10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Hermite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(GH) for the SA loop, and high-precision integral() for validation.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27706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Local-maxima traps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28940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Non-convex landscape traps optimizer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27706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4846320" y="285162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</a:t>
            </a:r>
            <a:r>
              <a:rPr lang="en-US" sz="1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Multi-Start, </a:t>
            </a: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"Track Best" elitism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685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verification &amp; channel correctness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2920" y="38084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ensure gain is real, not artifact of approximation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6850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>
              <a:solidFill>
                <a:srgbClr val="002060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46320" y="38359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validation suite verifying APP rules, decision boundaries, and theoretical AMI limits and high-precision </a:t>
            </a:r>
            <a:r>
              <a:rPr lang="en-US" sz="10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evaluator for Gain validation.</a:t>
            </a:r>
            <a:endParaRPr lang="en-US" sz="1000" dirty="0"/>
          </a:p>
        </p:txBody>
      </p:sp>
      <p:pic>
        <p:nvPicPr>
          <p:cNvPr id="31" name="Image 0" descr="/home/claude/extracted/slide8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572000"/>
            <a:ext cx="9144" cy="91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400" dirty="0">
              <a:solidFill>
                <a:srgbClr val="002060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4846320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8737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P-2026-093  |  Geometric Shaping in the FSO Turbulent Channel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GS Framework: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robust SA optimization engine for M-PAM geometric shaping in FSO channels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e-IL" sz="1300" dirty="0" smtClean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the physical channel model and dual-AMI evaluators via strict statistical tests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he-IL" sz="1300" dirty="0" smtClean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significant shaping gains (e.g., +0.36 bits/</a:t>
            </a:r>
            <a:r>
              <a:rPr lang="en-US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8-PAM at 20dB SNR under weak turbulence</a:t>
            </a:r>
            <a:r>
              <a:rPr lang="en-US" sz="13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he-IL" sz="1300" dirty="0" smtClean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 smtClean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</a:t>
            </a:r>
            <a:r>
              <a:rPr lang="en-US" sz="13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Superiority: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SNR sweep (5–30 dB) confirms GS consistently outperforms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4846320" y="1417320"/>
                <a:ext cx="3840480" cy="31089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300" b="1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Higher-Order Constellations: 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Extend to </a:t>
                </a:r>
                <a:r>
                  <a:rPr lang="en-US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M=16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</a:t>
                </a:r>
                <a:r>
                  <a:rPr lang="en-US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32 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and evaluate how shaping gain scales with </a:t>
                </a:r>
                <a:r>
                  <a:rPr lang="en-US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M.</a:t>
                </a:r>
                <a:endParaRPr lang="he-IL" sz="13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300" b="1" dirty="0" smtClean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Robustness </a:t>
                </a:r>
                <a:r>
                  <a:rPr lang="en-US" sz="1300" b="1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Analysis: 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Investigate robustness of optimized constellations to channel parameter mismatch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  <m:sup>
                        <m:r>
                          <a:rPr lang="en-US" sz="1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he-IL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estimation 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errors</a:t>
                </a:r>
                <a:r>
                  <a:rPr lang="en-US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).</a:t>
                </a:r>
                <a:endParaRPr lang="he-IL" sz="1300" dirty="0" smtClean="0">
                  <a:solidFill>
                    <a:srgbClr val="22222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342900" indent="-342900">
                  <a:spcAft>
                    <a:spcPts val="600"/>
                  </a:spcAft>
                  <a:buSzPct val="100000"/>
                  <a:buChar char="•"/>
                </a:pPr>
                <a:r>
                  <a:rPr lang="en-US" sz="1300" b="1" dirty="0" smtClean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Peak-Power </a:t>
                </a:r>
                <a:r>
                  <a:rPr lang="en-US" sz="1300" b="1" dirty="0">
                    <a:solidFill>
                      <a:srgbClr val="00206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Constraints: 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Optimize shaping under strict peak-intensity limits </a:t>
                </a:r>
                <a:r>
                  <a:rPr lang="en-US" sz="1300" dirty="0" smtClean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alongside </a:t>
                </a:r>
                <a:r>
                  <a:rPr lang="en-US" sz="1300" dirty="0">
                    <a:solidFill>
                      <a:srgbClr val="222222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average power constraints.</a:t>
                </a:r>
                <a:endParaRPr lang="en-US" sz="1300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417320"/>
                <a:ext cx="3840480" cy="3108960"/>
              </a:xfrm>
              <a:prstGeom prst="rect">
                <a:avLst/>
              </a:prstGeom>
              <a:blipFill>
                <a:blip r:embed="rId3"/>
                <a:stretch>
                  <a:fillRect l="-317" t="-588" r="-111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</TotalTime>
  <Words>1044</Words>
  <Application>Microsoft Office PowerPoint</Application>
  <PresentationFormat>On-screen Show (16:9)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Geometric Shaping in the FSO Turbulent Channel</dc:title>
  <dc:subject>PptxGenJS Presentation</dc:subject>
  <dc:creator>Dolev Ishay, Adi Shlomo</dc:creator>
  <cp:lastModifiedBy>adi</cp:lastModifiedBy>
  <cp:revision>50</cp:revision>
  <dcterms:created xsi:type="dcterms:W3CDTF">2026-03-09T13:29:48Z</dcterms:created>
  <dcterms:modified xsi:type="dcterms:W3CDTF">2026-03-15T10:23:35Z</dcterms:modified>
</cp:coreProperties>
</file>